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d42ccd8e8374bc4" /><Relationship Type="http://schemas.openxmlformats.org/officeDocument/2006/relationships/extended-properties" Target="/docProps/app.xml" Id="Rd6b270ed37154d17" /><Relationship Type="http://schemas.openxmlformats.org/officeDocument/2006/relationships/officeDocument" Target="/ppt/presentation.xml" Id="Ra1c28aa47632404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02949159b474c90"/>
  </p:sldMasterIdLst>
  <p:notesMasterIdLst>
    <p:notesMasterId xmlns:r="http://schemas.openxmlformats.org/officeDocument/2006/relationships" r:id="R0e26e08552ea4cd3"/>
  </p:notesMasterIdLst>
  <p:sldIdLst>
    <p:sldId xmlns:r="http://schemas.openxmlformats.org/officeDocument/2006/relationships" id="256" r:id="R4c0c440a5c5548d6"/>
    <p:sldId xmlns:r="http://schemas.openxmlformats.org/officeDocument/2006/relationships" id="257" r:id="Rb275271ec63c4569"/>
    <p:sldId xmlns:r="http://schemas.openxmlformats.org/officeDocument/2006/relationships" id="258" r:id="Rd97a0e78ae804bc8"/>
    <p:sldId xmlns:r="http://schemas.openxmlformats.org/officeDocument/2006/relationships" id="259" r:id="R25a734b5b3ff4626"/>
    <p:sldId xmlns:r="http://schemas.openxmlformats.org/officeDocument/2006/relationships" id="260" r:id="R0a85def6d8a14809"/>
    <p:sldId xmlns:r="http://schemas.openxmlformats.org/officeDocument/2006/relationships" id="261" r:id="Rd2f5da215a4444d0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61011c743f9409e" /><Relationship Type="http://schemas.openxmlformats.org/officeDocument/2006/relationships/slideMaster" Target="/ppt/slideMasters/slideMaster1.xml" Id="R802949159b474c90" /><Relationship Type="http://schemas.openxmlformats.org/officeDocument/2006/relationships/notesMaster" Target="/ppt/notesMasters/notesMaster1.xml" Id="R0e26e08552ea4cd3" /><Relationship Type="http://schemas.openxmlformats.org/officeDocument/2006/relationships/presProps" Target="/ppt/presProps.xml" Id="R12cbe83241004184" /><Relationship Type="http://schemas.openxmlformats.org/officeDocument/2006/relationships/viewProps" Target="/ppt/viewProps.xml" Id="R844190d96fcf4970" /><Relationship Type="http://schemas.openxmlformats.org/officeDocument/2006/relationships/tableStyles" Target="/ppt/tableStyles.xml" Id="R234c91b524f74277" /><Relationship Type="http://schemas.openxmlformats.org/officeDocument/2006/relationships/slide" Target="/ppt/slides/slide1.xml" Id="R4c0c440a5c5548d6" /><Relationship Type="http://schemas.openxmlformats.org/officeDocument/2006/relationships/slide" Target="/ppt/slides/slide2.xml" Id="Rb275271ec63c4569" /><Relationship Type="http://schemas.openxmlformats.org/officeDocument/2006/relationships/slide" Target="/ppt/slides/slide3.xml" Id="Rd97a0e78ae804bc8" /><Relationship Type="http://schemas.openxmlformats.org/officeDocument/2006/relationships/slide" Target="/ppt/slides/slide4.xml" Id="R25a734b5b3ff4626" /><Relationship Type="http://schemas.openxmlformats.org/officeDocument/2006/relationships/slide" Target="/ppt/slides/slide5.xml" Id="R0a85def6d8a14809" /><Relationship Type="http://schemas.openxmlformats.org/officeDocument/2006/relationships/slide" Target="/ppt/slides/slide6.xml" Id="Rd2f5da215a4444d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c983e457810419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>
          <a:solidFill>
            <a:schemeClr val="phClr"/>
          </a:solidFill>
          <a:prstDash val="solid"/>
        </a:ln>
        <a:ln w="10795">
          <a:solidFill>
            <a:schemeClr val="phClr"/>
          </a:solidFill>
          <a:prstDash val="solid"/>
        </a:ln>
        <a:ln w="17145">
          <a:solidFill>
            <a:schemeClr val="phClr">
              <a:shade val="95000"/>
              <a:satMod val="150000"/>
              <a:alpha val="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20000"/>
              </a:schemeClr>
            </a:gs>
            <a:gs pos="48000">
              <a:schemeClr val="phClr">
                <a:tint val="98000"/>
                <a:shade val="90000"/>
                <a:lumMod val="103000"/>
                <a:satMod val="110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e81982cc8154831" /><Relationship Type="http://schemas.openxmlformats.org/officeDocument/2006/relationships/notesMaster" Target="/ppt/notesMasters/notesMaster1.xml" Id="R753760fc7d404a9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cc307974b4d463a" /><Relationship Type="http://schemas.openxmlformats.org/officeDocument/2006/relationships/notesMaster" Target="/ppt/notesMasters/notesMaster1.xml" Id="Rcd8774571ded480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56bc72b6e044206" /><Relationship Type="http://schemas.openxmlformats.org/officeDocument/2006/relationships/notesMaster" Target="/ppt/notesMasters/notesMaster1.xml" Id="Ra89976e57b5945b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114caada8854d86" /><Relationship Type="http://schemas.openxmlformats.org/officeDocument/2006/relationships/notesMaster" Target="/ppt/notesMasters/notesMaster1.xml" Id="Rf8173216c3c34a9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cc34d2777ce4063" /><Relationship Type="http://schemas.openxmlformats.org/officeDocument/2006/relationships/notesMaster" Target="/ppt/notesMasters/notesMaster1.xml" Id="Rffc2a8d126e34fe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a02516e833147d6" /><Relationship Type="http://schemas.openxmlformats.org/officeDocument/2006/relationships/notesMaster" Target="/ppt/notesMasters/notesMaster1.xml" Id="R685369f21a1340b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507228f5bb4c2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cec415d81946c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db4b9c5d4a473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2d5329c43c49e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fd4fb0c90b422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7c20b1b8a6423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8ed189fe68464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9eb11832ce414c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3de7d595a74d4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0ada9cae04404c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cc21ed0ecd4e9a" /></Relationships>
</file>

<file path=ppt/slideLayouts/slideLayout1.xml><?xml version="1.0" encoding="utf-8"?>
<p:sldLayout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CA77614C-26B7-4861-9612-F29413C9D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1999"/>
            <a:ext cx="9141619" cy="533400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97796FE0-6DC3-4ADC-8F4B-BDC51D104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0263" y="761999"/>
            <a:ext cx="2925318" cy="53340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>
              <a:alpha val="49804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A3C1C4D-27AE-4D65-A828-6FB602AE141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069848" y="1298448"/>
            <a:ext cx="7315200" cy="3255264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l">
              <a:buNone/>
              <a:defRPr sz="5900" spc="-100" baseline="0">
                <a:solidFill>
                  <a:srgbClr val="FFFFFF"/>
                </a:solidFill>
              </a:defRPr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56052B1-2277-442A-A879-7FB826FEF7F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00015" y="4670246"/>
            <a:ext cx="7315200" cy="914400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C7007E6-EDFF-40AC-AA13-3E5F079CF2D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DAD71B1-3AEF-4BFF-9DE3-6D92C392060D}" type="datetimeFigureOut">
              <a:t>09-10-2026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E3D8449-5731-4D35-B6DD-013796B5A3C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AEF3496-16E8-45B5-BB03-E14B4B66B1C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8C2B35C-8BCA-444C-8F92-E97C4DB096C0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E98C0F6-75CD-4A82-AA9C-D679C34A88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93A4CB0-3C13-47F4-AE3E-13542D5C1E5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6B2DC9C-C3C7-46E2-AF8E-E3677AC32E3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DAD71B1-3AEF-4BFF-9DE3-6D92C392060D}" type="datetimeFigureOut">
              <a:t>09-10-2026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1D618FA-BC9A-43F9-B779-E15EB52E388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AAC29C9-82B1-4E47-82F1-BE2D534B322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8C2B35C-8BCA-444C-8F92-E97C4DB096C0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3C9C790-F8AC-40C5-9D18-03ADDD79CD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867912" y="1298448"/>
            <a:ext cx="7315200" cy="3255264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B109ECD-8448-4350-BDBE-D479EEF181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886200" y="4672584"/>
            <a:ext cx="7315200" cy="914400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E53B76C-BDE8-4D21-ABEE-DDA63C62837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DAD71B1-3AEF-4BFF-9DE3-6D92C392060D}" type="datetimeFigureOut">
              <a:t>09-10-2026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B6F2AA6-A79D-4A0B-A196-813440CF6FA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0E26830-36B2-42EE-B5A4-8C22E39D2F2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8C2B35C-8BCA-444C-8F92-E97C4DB096C0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8038FF2-1064-4323-87D9-B2FBBD3C96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598FD14-4CB8-4235-890B-625598353A8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867912" y="868680"/>
            <a:ext cx="3474720" cy="512064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000"/>
            </a:lvl1pPr>
            <a:lvl2pPr>
              <a:buNone/>
              <a:defRPr sz="1800"/>
            </a:lvl2pPr>
            <a:lvl3pPr>
              <a:buNone/>
              <a:defRPr sz="1600"/>
            </a:lvl3pPr>
            <a:lvl4pPr>
              <a:buNone/>
              <a:defRPr sz="1400"/>
            </a:lvl4pPr>
            <a:lvl5pPr>
              <a:buNone/>
              <a:defRPr sz="1400"/>
            </a:lvl5pPr>
            <a:lvl6pPr>
              <a:buNone/>
              <a:defRPr sz="1400"/>
            </a:lvl6pPr>
            <a:lvl7pPr>
              <a:buNone/>
              <a:defRPr sz="1400"/>
            </a:lvl7pPr>
            <a:lvl8pPr>
              <a:buNone/>
              <a:defRPr sz="1400"/>
            </a:lvl8pPr>
            <a:lvl9pPr>
              <a:buNone/>
              <a:defRPr sz="14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F3FD5DC-A690-40BB-9296-415ED03ED10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7818120" y="868680"/>
            <a:ext cx="3474720" cy="512064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000"/>
            </a:lvl1pPr>
            <a:lvl2pPr>
              <a:buNone/>
              <a:defRPr sz="1800"/>
            </a:lvl2pPr>
            <a:lvl3pPr>
              <a:buNone/>
              <a:defRPr sz="1600"/>
            </a:lvl3pPr>
            <a:lvl4pPr>
              <a:buNone/>
              <a:defRPr sz="1400"/>
            </a:lvl4pPr>
            <a:lvl5pPr>
              <a:buNone/>
              <a:defRPr sz="1400"/>
            </a:lvl5pPr>
            <a:lvl6pPr>
              <a:buNone/>
              <a:defRPr sz="1400"/>
            </a:lvl6pPr>
            <a:lvl7pPr>
              <a:buNone/>
              <a:defRPr sz="1400"/>
            </a:lvl7pPr>
            <a:lvl8pPr>
              <a:buNone/>
              <a:defRPr sz="1400"/>
            </a:lvl8pPr>
            <a:lvl9pPr>
              <a:buNone/>
              <a:defRPr sz="14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8" name="Date Placeholder 7">
            <a:extLst xmlns:a="http://schemas.openxmlformats.org/drawingml/2006/main">
              <a:ext uri="{FF2B5EF4-FFF2-40B4-BE49-F238E27FC236}">
                <a16:creationId xmlns:a16="http://schemas.microsoft.com/office/drawing/2014/main" id="{CCA70D02-7BEF-4D61-BD2D-973D4BF5CCA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DAD71B1-3AEF-4BFF-9DE3-6D92C392060D}" type="datetimeFigureOut">
              <a:t>09-10-2026</a:t>
            </a:fld>
            <a:endParaRPr/>
          </a:p>
        </p:txBody>
      </p:sp>
      <p:sp>
        <p:nvSpPr>
          <p:cNvPr id="9" name="Footer Placeholder 8">
            <a:extLst xmlns:a="http://schemas.openxmlformats.org/drawingml/2006/main">
              <a:ext uri="{FF2B5EF4-FFF2-40B4-BE49-F238E27FC236}">
                <a16:creationId xmlns:a16="http://schemas.microsoft.com/office/drawing/2014/main" id="{563685F1-0BBE-4631-918F-012B8560C32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Slide Number Placeholder 9">
            <a:extLst xmlns:a="http://schemas.openxmlformats.org/drawingml/2006/main">
              <a:ext uri="{FF2B5EF4-FFF2-40B4-BE49-F238E27FC236}">
                <a16:creationId xmlns:a16="http://schemas.microsoft.com/office/drawing/2014/main" id="{E21367EE-3FC1-46BA-8B8F-D5963FFC7B9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8C2B35C-8BCA-444C-8F92-E97C4DB096C0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 9">
            <a:extLst xmlns:a="http://schemas.openxmlformats.org/drawingml/2006/main">
              <a:ext uri="{FF2B5EF4-FFF2-40B4-BE49-F238E27FC236}">
                <a16:creationId xmlns:a16="http://schemas.microsoft.com/office/drawing/2014/main" id="{62C36F4A-84F4-40B7-939B-E5A3A523F3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8EEB25B-CCFB-4DA4-B14C-914FD71674D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867912" y="1023586"/>
            <a:ext cx="3474720" cy="807720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5DAD884-2235-4DB0-B2AD-C9BD6290085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3867912" y="1930936"/>
            <a:ext cx="3474720" cy="402336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000"/>
            </a:lvl1pPr>
            <a:lvl2pPr>
              <a:buNone/>
              <a:defRPr sz="1800"/>
            </a:lvl2pPr>
            <a:lvl3pPr>
              <a:buNone/>
              <a:defRPr sz="1600"/>
            </a:lvl3pPr>
            <a:lvl4pPr>
              <a:buNone/>
              <a:defRPr sz="1400"/>
            </a:lvl4pPr>
            <a:lvl5pPr>
              <a:buNone/>
              <a:defRPr sz="1400"/>
            </a:lvl5pPr>
            <a:lvl6pPr>
              <a:buNone/>
              <a:defRPr sz="1400"/>
            </a:lvl6pPr>
            <a:lvl7pPr>
              <a:buNone/>
              <a:defRPr sz="1400"/>
            </a:lvl7pPr>
            <a:lvl8pPr>
              <a:buNone/>
              <a:defRPr sz="1400"/>
            </a:lvl8pPr>
            <a:lvl9pPr>
              <a:buNone/>
              <a:defRPr sz="14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89BF7172-9A4E-4CB4-B03E-4F698CFF925F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7818463" y="1023586"/>
            <a:ext cx="3474720" cy="813171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7BD323C0-FF9C-41E8-B1A0-B445FA3E228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7818463" y="1930936"/>
            <a:ext cx="3474720" cy="402336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000"/>
            </a:lvl1pPr>
            <a:lvl2pPr>
              <a:buNone/>
              <a:defRPr sz="1800"/>
            </a:lvl2pPr>
            <a:lvl3pPr>
              <a:buNone/>
              <a:defRPr sz="1600"/>
            </a:lvl3pPr>
            <a:lvl4pPr>
              <a:buNone/>
              <a:defRPr sz="1400"/>
            </a:lvl4pPr>
            <a:lvl5pPr>
              <a:buNone/>
              <a:defRPr sz="1400"/>
            </a:lvl5pPr>
            <a:lvl6pPr>
              <a:buNone/>
              <a:defRPr sz="1400"/>
            </a:lvl6pPr>
            <a:lvl7pPr>
              <a:buNone/>
              <a:defRPr sz="1400"/>
            </a:lvl7pPr>
            <a:lvl8pPr>
              <a:buNone/>
              <a:defRPr sz="1400"/>
            </a:lvl8pPr>
            <a:lvl9pPr>
              <a:buNone/>
              <a:defRPr sz="14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368FA98C-AAFA-442E-950B-021D176C12A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DAD71B1-3AEF-4BFF-9DE3-6D92C392060D}" type="datetimeFigureOut">
              <a:t>09-10-2026</a:t>
            </a:fld>
            <a:endParaRPr/>
          </a:p>
        </p:txBody>
      </p:sp>
      <p:sp>
        <p:nvSpPr>
          <p:cNvPr id="11" name="Footer Placeholder 10">
            <a:extLst xmlns:a="http://schemas.openxmlformats.org/drawingml/2006/main">
              <a:ext uri="{FF2B5EF4-FFF2-40B4-BE49-F238E27FC236}">
                <a16:creationId xmlns:a16="http://schemas.microsoft.com/office/drawing/2014/main" id="{09B94D4E-35E0-4F97-86EA-CBBCBBE6223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Slide Number Placeholder 11">
            <a:extLst xmlns:a="http://schemas.openxmlformats.org/drawingml/2006/main">
              <a:ext uri="{FF2B5EF4-FFF2-40B4-BE49-F238E27FC236}">
                <a16:creationId xmlns:a16="http://schemas.microsoft.com/office/drawing/2014/main" id="{3D40084B-CAFF-4E98-A822-B3310A41B5B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8C2B35C-8BCA-444C-8F92-E97C4DB096C0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 5">
            <a:extLst xmlns:a="http://schemas.openxmlformats.org/drawingml/2006/main">
              <a:ext uri="{FF2B5EF4-FFF2-40B4-BE49-F238E27FC236}">
                <a16:creationId xmlns:a16="http://schemas.microsoft.com/office/drawing/2014/main" id="{DF9BA348-1B4F-4FEA-8FA5-B78CA0A6A2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EB4A21B2-A4EF-46B9-A12E-DC1A305A09F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DAD71B1-3AEF-4BFF-9DE3-6D92C392060D}" type="datetimeFigureOut">
              <a:t>09-10-2026</a:t>
            </a:fld>
            <a:endParaRPr/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7DA56BB1-384A-4776-A68A-AA41415E0E0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Slide Number Placeholder 7">
            <a:extLst xmlns:a="http://schemas.openxmlformats.org/drawingml/2006/main">
              <a:ext uri="{FF2B5EF4-FFF2-40B4-BE49-F238E27FC236}">
                <a16:creationId xmlns:a16="http://schemas.microsoft.com/office/drawing/2014/main" id="{B43A0006-2384-4139-9C15-68FCEFDB91C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8C2B35C-8BCA-444C-8F92-E97C4DB096C0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7206EB9-A746-4447-A29A-820952D6D91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DAD71B1-3AEF-4BFF-9DE3-6D92C392060D}" type="datetimeFigureOut">
              <a:t>09-10-2026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51C18F80-739F-40FD-88D6-FC438C097D0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99FE34E-81A3-42D2-B4ED-3D267FBC6E1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8C2B35C-8BCA-444C-8F92-E97C4DB096C0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98AB66D-49B0-4873-A07C-608038EC69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56032" y="1143000"/>
            <a:ext cx="2834640" cy="2377440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3200" b="0" baseline="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324A927-3172-4C6C-9EBC-7716652AE4E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867912" y="868680"/>
            <a:ext cx="7315200" cy="512064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000"/>
            </a:lvl1pPr>
            <a:lvl2pPr>
              <a:buNone/>
              <a:defRPr sz="1800"/>
            </a:lvl2pPr>
            <a:lvl3pPr>
              <a:buNone/>
              <a:defRPr sz="1600"/>
            </a:lvl3pPr>
            <a:lvl4pPr>
              <a:buNone/>
              <a:defRPr sz="1400"/>
            </a:lvl4pPr>
            <a:lvl5pPr>
              <a:buNone/>
              <a:defRPr sz="1400"/>
            </a:lvl5pPr>
            <a:lvl6pPr>
              <a:buNone/>
              <a:defRPr sz="1400"/>
            </a:lvl6pPr>
            <a:lvl7pPr>
              <a:buNone/>
              <a:defRPr sz="1400"/>
            </a:lvl7pPr>
            <a:lvl8pPr>
              <a:buNone/>
              <a:defRPr sz="1400"/>
            </a:lvl8pPr>
            <a:lvl9pPr>
              <a:buNone/>
              <a:defRPr sz="14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583CEA1-F054-4D21-9E47-0FA0BBBA466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256032" y="3494176"/>
            <a:ext cx="2834640" cy="2321990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8" name="Date Placeholder 7">
            <a:extLst xmlns:a="http://schemas.openxmlformats.org/drawingml/2006/main">
              <a:ext uri="{FF2B5EF4-FFF2-40B4-BE49-F238E27FC236}">
                <a16:creationId xmlns:a16="http://schemas.microsoft.com/office/drawing/2014/main" id="{287CBD19-BB04-4CCF-864E-B3F2FA91417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DAD71B1-3AEF-4BFF-9DE3-6D92C392060D}" type="datetimeFigureOut">
              <a:t>09-10-2026</a:t>
            </a:fld>
            <a:endParaRPr/>
          </a:p>
        </p:txBody>
      </p:sp>
      <p:sp>
        <p:nvSpPr>
          <p:cNvPr id="9" name="Footer Placeholder 8">
            <a:extLst xmlns:a="http://schemas.openxmlformats.org/drawingml/2006/main">
              <a:ext uri="{FF2B5EF4-FFF2-40B4-BE49-F238E27FC236}">
                <a16:creationId xmlns:a16="http://schemas.microsoft.com/office/drawing/2014/main" id="{A09C5A42-F6A2-46D5-B05B-A38EAFE6440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Slide Number Placeholder 9">
            <a:extLst xmlns:a="http://schemas.openxmlformats.org/drawingml/2006/main">
              <a:ext uri="{FF2B5EF4-FFF2-40B4-BE49-F238E27FC236}">
                <a16:creationId xmlns:a16="http://schemas.microsoft.com/office/drawing/2014/main" id="{C5863009-BEA3-4C51-8FC9-460FD6FF4E6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8C2B35C-8BCA-444C-8F92-E97C4DB096C0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E05C77A-F49F-4F85-BC33-7FA1B60C40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56032" y="1143000"/>
            <a:ext cx="2834640" cy="2377440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3200" b="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7F84C795-306D-4BC5-B361-93542CA59CE5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3570644" y="767419"/>
            <a:ext cx="8115230" cy="533095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75000"/>
            </a:schemeClr>
          </a:solidFill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799394FB-FB0B-48ED-86DD-A09C873BD96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256032" y="3493008"/>
            <a:ext cx="2834640" cy="2322576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8" name="Date Placeholder 7">
            <a:extLst xmlns:a="http://schemas.openxmlformats.org/drawingml/2006/main">
              <a:ext uri="{FF2B5EF4-FFF2-40B4-BE49-F238E27FC236}">
                <a16:creationId xmlns:a16="http://schemas.microsoft.com/office/drawing/2014/main" id="{7B2D09AB-F2FE-4E47-847D-036317148AC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DAD71B1-3AEF-4BFF-9DE3-6D92C392060D}" type="datetimeFigureOut">
              <a:t>09-10-2026</a:t>
            </a:fld>
            <a:endParaRPr/>
          </a:p>
        </p:txBody>
      </p:sp>
      <p:sp>
        <p:nvSpPr>
          <p:cNvPr id="9" name="Footer Placeholder 8">
            <a:extLst xmlns:a="http://schemas.openxmlformats.org/drawingml/2006/main">
              <a:ext uri="{FF2B5EF4-FFF2-40B4-BE49-F238E27FC236}">
                <a16:creationId xmlns:a16="http://schemas.microsoft.com/office/drawing/2014/main" id="{8A1BEA29-0E01-46B4-BA5B-3C6D0458405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499101" y="6356350"/>
            <a:ext cx="5911517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Slide Number Placeholder 9">
            <a:extLst xmlns:a="http://schemas.openxmlformats.org/drawingml/2006/main">
              <a:ext uri="{FF2B5EF4-FFF2-40B4-BE49-F238E27FC236}">
                <a16:creationId xmlns:a16="http://schemas.microsoft.com/office/drawing/2014/main" id="{81C40474-9C95-4B83-933A-F12823BC4EA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8C2B35C-8BCA-444C-8F92-E97C4DB096C0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8628736-CE39-475C-AA13-A7320C1C83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C20FBA49-FA6F-4C9B-8ACD-E3E9DDFC3CC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A4216F20-2D69-446E-87F6-DD87F32228C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DAD71B1-3AEF-4BFF-9DE3-6D92C392060D}" type="datetimeFigureOut">
              <a:t>09-10-2026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38132BB1-F0AC-43F9-BFA5-FF77FFD5458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DCB29CDC-FA79-4069-831E-7FF3A25E201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8C2B35C-8BCA-444C-8F92-E97C4DB096C0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3192F9EB-4AA8-4753-BE98-D8287CCCF0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81000" y="990600"/>
            <a:ext cx="2819400" cy="4953000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74C8F6FC-F740-4562-ADC9-6572013FACA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867912" y="868680"/>
            <a:ext cx="7315200" cy="5120640"/>
          </a:xfrm>
        </p:spPr>
        <p:txBody>
          <a:bodyPr xmlns:a="http://schemas.openxmlformats.org/drawingml/2006/main" vert="eaVert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A73AAC48-85C7-4258-9A4F-8A0520BFE89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DAD71B1-3AEF-4BFF-9DE3-6D92C392060D}" type="datetimeFigureOut">
              <a:t>09-10-2026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6D6B89B5-E048-4AD3-9B39-448D59B3CC1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B51A3403-35C7-40A6-9CE4-38D53DD1985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8C2B35C-8BCA-444C-8F92-E97C4DB096C0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ceaa343f5f54e72" /><Relationship Type="http://schemas.openxmlformats.org/officeDocument/2006/relationships/slideLayout" Target="/ppt/slideLayouts/slideLayout1.xml" Id="R857356f883b44def" /><Relationship Type="http://schemas.openxmlformats.org/officeDocument/2006/relationships/slideLayout" Target="/ppt/slideLayouts/slideLayout2.xml" Id="R9425c709d0344f21" /><Relationship Type="http://schemas.openxmlformats.org/officeDocument/2006/relationships/slideLayout" Target="/ppt/slideLayouts/slideLayout3.xml" Id="R2c944eed5cc44b04" /><Relationship Type="http://schemas.openxmlformats.org/officeDocument/2006/relationships/slideLayout" Target="/ppt/slideLayouts/slideLayout4.xml" Id="Rd39fd3d75eb94a5c" /><Relationship Type="http://schemas.openxmlformats.org/officeDocument/2006/relationships/slideLayout" Target="/ppt/slideLayouts/slideLayout5.xml" Id="R76e3ce156f7c4f1d" /><Relationship Type="http://schemas.openxmlformats.org/officeDocument/2006/relationships/slideLayout" Target="/ppt/slideLayouts/slideLayout6.xml" Id="Re754df4e6d794929" /><Relationship Type="http://schemas.openxmlformats.org/officeDocument/2006/relationships/slideLayout" Target="/ppt/slideLayouts/slideLayout7.xml" Id="R1ed7733279a24849" /><Relationship Type="http://schemas.openxmlformats.org/officeDocument/2006/relationships/slideLayout" Target="/ppt/slideLayouts/slideLayout8.xml" Id="R1f2646c892a642a7" /><Relationship Type="http://schemas.openxmlformats.org/officeDocument/2006/relationships/slideLayout" Target="/ppt/slideLayouts/slideLayout9.xml" Id="Rd3e41c5789af4b7f" /><Relationship Type="http://schemas.openxmlformats.org/officeDocument/2006/relationships/slideLayout" Target="/ppt/slideLayouts/slideLayout10.xml" Id="Rf84c81b10d214e26" /><Relationship Type="http://schemas.openxmlformats.org/officeDocument/2006/relationships/slideLayout" Target="/ppt/slideLayouts/slideLayout11.xml" Id="R1126804422b546f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82E8FC5-E547-4893-B446-3EEC893FB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758952"/>
            <a:ext cx="3443590" cy="533095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4CA08447-F700-4F71-AA84-A9EB51EAD7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52919" y="1123837"/>
            <a:ext cx="2947482" cy="46011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358BA7BB-545B-4DAD-BD4C-42E243B8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5864" y="758952"/>
            <a:ext cx="384048" cy="53309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>
              <a:alpha val="49804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96EEFCE-1FDE-40F4-9DA6-5192CBD796E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869268" y="864108"/>
            <a:ext cx="7315200" cy="5120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7DF53F8-9575-4E14-828D-E1F5B5AB7CD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262465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fld id="{9DAD71B1-3AEF-4BFF-9DE3-6D92C392060D}" type="datetimeFigureOut">
              <a:t>09-10-2026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0096661-F8F9-4F4E-B698-DF3780027FD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869268" y="6356350"/>
            <a:ext cx="5911517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9241A7E-173D-4745-961A-9FF7305C37E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0634135" y="6356350"/>
            <a:ext cx="1530927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fld id="{18C2B35C-8BCA-444C-8F92-E97C4DB096C0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57356f883b44def"/>
    <p:sldLayoutId xmlns:r="http://schemas.openxmlformats.org/officeDocument/2006/relationships" id="2147483650" r:id="R9425c709d0344f21"/>
    <p:sldLayoutId xmlns:r="http://schemas.openxmlformats.org/officeDocument/2006/relationships" id="2147483651" r:id="R2c944eed5cc44b04"/>
    <p:sldLayoutId xmlns:r="http://schemas.openxmlformats.org/officeDocument/2006/relationships" id="2147483652" r:id="Rd39fd3d75eb94a5c"/>
    <p:sldLayoutId xmlns:r="http://schemas.openxmlformats.org/officeDocument/2006/relationships" id="2147483653" r:id="R76e3ce156f7c4f1d"/>
    <p:sldLayoutId xmlns:r="http://schemas.openxmlformats.org/officeDocument/2006/relationships" id="2147483654" r:id="Re754df4e6d794929"/>
    <p:sldLayoutId xmlns:r="http://schemas.openxmlformats.org/officeDocument/2006/relationships" id="2147483655" r:id="R1ed7733279a24849"/>
    <p:sldLayoutId xmlns:r="http://schemas.openxmlformats.org/officeDocument/2006/relationships" id="2147483656" r:id="R1f2646c892a642a7"/>
    <p:sldLayoutId xmlns:r="http://schemas.openxmlformats.org/officeDocument/2006/relationships" id="2147483657" r:id="Rd3e41c5789af4b7f"/>
    <p:sldLayoutId xmlns:r="http://schemas.openxmlformats.org/officeDocument/2006/relationships" id="2147483658" r:id="Rf84c81b10d214e26"/>
    <p:sldLayoutId xmlns:r="http://schemas.openxmlformats.org/officeDocument/2006/relationships" id="2147483659" r:id="R1126804422b546f3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182880" indent="-182880" algn="l" defTabSz="914400">
        <a:lnSpc>
          <a:spcPct val="90000"/>
        </a:lnSpc>
        <a:spcBef>
          <a:spcPts val="1200"/>
        </a:spcBef>
        <a:buClr>
          <a:schemeClr val="accent1"/>
        </a:buClr>
        <a:buFont typeface="Wingdings 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182880" algn="l" defTabSz="914400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182880" algn="l" defTabSz="914400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182880" algn="l" defTabSz="914400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182880" algn="l" defTabSz="914400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>
          <a:solidFill>
            <a:schemeClr val="phClr"/>
          </a:solidFill>
          <a:prstDash val="solid"/>
        </a:ln>
        <a:ln w="10795">
          <a:solidFill>
            <a:schemeClr val="phClr"/>
          </a:solidFill>
          <a:prstDash val="solid"/>
        </a:ln>
        <a:ln w="17145">
          <a:solidFill>
            <a:schemeClr val="phClr">
              <a:shade val="95000"/>
              <a:satMod val="150000"/>
              <a:alpha val="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20000"/>
              </a:schemeClr>
            </a:gs>
            <a:gs pos="48000">
              <a:schemeClr val="phClr">
                <a:tint val="98000"/>
                <a:shade val="90000"/>
                <a:lumMod val="103000"/>
                <a:satMod val="110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8f4d7a039c4527" /><Relationship Type="http://schemas.openxmlformats.org/officeDocument/2006/relationships/notesSlide" Target="/ppt/notesSlides/notesSlide1.xml" Id="Rceddcf6c6473459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ccdb518ed4f4a60" /><Relationship Type="http://schemas.openxmlformats.org/officeDocument/2006/relationships/notesSlide" Target="/ppt/notesSlides/notesSlide2.xml" Id="R83dbafbb351c440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dc969f239d24436" /><Relationship Type="http://schemas.openxmlformats.org/officeDocument/2006/relationships/notesSlide" Target="/ppt/notesSlides/notesSlide3.xml" Id="R3f862ebaa913446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7ea3e84d5874e10" /><Relationship Type="http://schemas.openxmlformats.org/officeDocument/2006/relationships/notesSlide" Target="/ppt/notesSlides/notesSlide4.xml" Id="R0651c23ccdb7428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bbc5d9856e6444a" /><Relationship Type="http://schemas.openxmlformats.org/officeDocument/2006/relationships/notesSlide" Target="/ppt/notesSlides/notesSlide5.xml" Id="R7b59564d358a4ff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12e50da0194485e" /><Relationship Type="http://schemas.openxmlformats.org/officeDocument/2006/relationships/notesSlide" Target="/ppt/notesSlides/notesSlide6.xml" Id="R1caf44576140400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2880367-3A28-CADD-FFC3-88C314682E8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4350" b="1">
                <a:solidFill>
                  <a:srgbClr val="FFFFFF"/>
                </a:solidFill>
                <a:latin typeface="Corbel"/>
                <a:ea typeface="Corbel"/>
                <a:cs typeface="Corbel"/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Corbel"/>
                <a:ea typeface="Corbel"/>
                <a:cs typeface="Corbel"/>
              </a:defRPr>
            </a:pPr>
            <a:r>
              <a:rPr sz="4350" b="1">
                <a:solidFill>
                  <a:srgbClr val="FFFFFF"/>
                </a:solidFill>
                <a:latin typeface="Corbel"/>
                <a:ea typeface="Corbel"/>
                <a:cs typeface="Corbel"/>
              </a:rPr>
              <a:t>Screenshot Graveyard Solver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0A7B1192-6293-AB94-D3B8-D3C5A9CC349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>
            <a:normAutofit fontScale="79953"/>
          </a:bodyPr>
          <a:lstStyle xmlns:a="http://schemas.openxmlformats.org/drawingml/2006/main">
            <a:defPPr>
              <a:defRPr sz="1575">
                <a:solidFill>
                  <a:srgbClr val="D9F1F6"/>
                </a:solidFill>
                <a:latin typeface="Corbel"/>
                <a:ea typeface="Corbel"/>
                <a:cs typeface="Corbel"/>
              </a:defRPr>
            </a:defPPr>
          </a:lstStyle>
          <a:p xmlns:a="http://schemas.openxmlformats.org/drawingml/2006/main">
            <a:pPr>
              <a:defRPr sz="1575">
                <a:solidFill>
                  <a:srgbClr val="D9F1F6"/>
                </a:solidFill>
                <a:latin typeface="Corbel"/>
                <a:ea typeface="Corbel"/>
                <a:cs typeface="Corbel"/>
              </a:defRPr>
            </a:pPr>
            <a:r>
              <a:rPr sz="1575">
                <a:solidFill>
                  <a:srgbClr val="D9F1F6"/>
                </a:solidFill>
                <a:latin typeface="Corbel"/>
                <a:ea typeface="Corbel"/>
                <a:cs typeface="Corbel"/>
              </a:rPr>
              <a:t>Team TRG</a:t>
            </a:r>
          </a:p>
          <a:p xmlns:a="http://schemas.openxmlformats.org/drawingml/2006/main">
            <a:pPr>
              <a:defRPr sz="1575">
                <a:solidFill>
                  <a:srgbClr val="D9F1F6"/>
                </a:solidFill>
                <a:latin typeface="Corbel"/>
                <a:ea typeface="Corbel"/>
                <a:cs typeface="Corbel"/>
              </a:defRPr>
            </a:pPr>
            <a:r>
              <a:rPr sz="1575">
                <a:solidFill>
                  <a:srgbClr val="D9F1F6"/>
                </a:solidFill>
                <a:latin typeface="Corbel"/>
                <a:ea typeface="Corbel"/>
                <a:cs typeface="Corbel"/>
              </a:rPr>
              <a:t>COER University / College of Smart Computing</a:t>
            </a:r>
            <a:endParaRPr/>
          </a:p>
          <a:p xmlns:a="http://schemas.openxmlformats.org/drawingml/2006/main">
            <a:pPr>
              <a:defRPr sz="1575">
                <a:solidFill>
                  <a:srgbClr val="D9F1F6"/>
                </a:solidFill>
                <a:latin typeface="Corbel"/>
                <a:ea typeface="Corbel"/>
                <a:cs typeface="Corbel"/>
              </a:defRPr>
            </a:pPr>
            <a:r>
              <a:rPr sz="1575">
                <a:solidFill>
                  <a:srgbClr val="D9F1F6"/>
                </a:solidFill>
                <a:latin typeface="Corbel"/>
                <a:ea typeface="Corbel"/>
                <a:cs typeface="Corbel"/>
              </a:rPr>
              <a:t>Table CB09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9654352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CD4189E-C268-0398-24FC-83BF90378F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 Statement 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19C9FA9-F72D-1D32-939A-BBA802A7D9E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800">
                <a:solidFill>
                  <a:srgbClr val="595959"/>
                </a:solidFill>
                <a:latin typeface="Corbel"/>
                <a:ea typeface="Corbel"/>
                <a:cs typeface="Corbel"/>
              </a:defRPr>
            </a:defPPr>
          </a:lstStyle>
          <a:p xmlns:a="http://schemas.openxmlformats.org/drawingml/2006/main">
            <a:pPr marL="304800" indent="-152400">
              <a:spcAft>
                <a:spcPts val="1200"/>
              </a:spcAft>
              <a:buChar char="•"/>
              <a:defRPr sz="1800">
                <a:solidFill>
                  <a:srgbClr val="595959"/>
                </a:solidFill>
                <a:latin typeface="Corbel"/>
                <a:ea typeface="Corbel"/>
                <a:cs typeface="Corbel"/>
              </a:defRPr>
            </a:pPr>
            <a:r>
              <a:rPr sz="1800">
                <a:solidFill>
                  <a:srgbClr val="595959"/>
                </a:solidFill>
                <a:latin typeface="Corbel"/>
                <a:ea typeface="Corbel"/>
                <a:cs typeface="Corbel"/>
              </a:rPr>
              <a:t>Screenshots of Slack messages, emails and meetings capture tasks, but they pile up in camera rolls.</a:t>
            </a:r>
          </a:p>
          <a:p xmlns:a="http://schemas.openxmlformats.org/drawingml/2006/main">
            <a:pPr marL="304800" indent="-152400">
              <a:spcAft>
                <a:spcPts val="1200"/>
              </a:spcAft>
              <a:buChar char="•"/>
              <a:defRPr sz="1800">
                <a:solidFill>
                  <a:srgbClr val="595959"/>
                </a:solidFill>
                <a:latin typeface="Corbel"/>
                <a:ea typeface="Corbel"/>
                <a:cs typeface="Corbel"/>
              </a:defRPr>
            </a:pPr>
            <a:r>
              <a:rPr sz="1800">
                <a:solidFill>
                  <a:srgbClr val="595959"/>
                </a:solidFill>
                <a:latin typeface="Corbel"/>
                <a:ea typeface="Corbel"/>
                <a:cs typeface="Corbel"/>
              </a:rPr>
              <a:t>Important action items get buried and deadlines are missed.</a:t>
            </a:r>
          </a:p>
          <a:p xmlns:a="http://schemas.openxmlformats.org/drawingml/2006/main">
            <a:pPr marL="304800" indent="-152400">
              <a:spcAft>
                <a:spcPts val="1200"/>
              </a:spcAft>
              <a:buChar char="•"/>
              <a:defRPr sz="1800">
                <a:solidFill>
                  <a:srgbClr val="595959"/>
                </a:solidFill>
                <a:latin typeface="Corbel"/>
                <a:ea typeface="Corbel"/>
                <a:cs typeface="Corbel"/>
              </a:defRPr>
            </a:pPr>
            <a:r>
              <a:rPr sz="1800">
                <a:solidFill>
                  <a:srgbClr val="595959"/>
                </a:solidFill>
                <a:latin typeface="Corbel"/>
                <a:ea typeface="Corbel"/>
                <a:cs typeface="Corbel"/>
              </a:rPr>
              <a:t>Manually copying tasks from images into a task manager takes time and effort.</a:t>
            </a:r>
          </a:p>
        </p:txBody>
      </p:sp>
    </p:spTree>
    <p:extLst>
      <p:ext uri="{BB962C8B-B14F-4D97-AF65-F5344CB8AC3E}">
        <p14:creationId xmlns:p14="http://schemas.microsoft.com/office/powerpoint/2010/main" val="399002131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92FD88B-679D-4FC8-6C9D-6586879655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Sustainable Development Goals Alignment (SDG)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46D84A7-AA77-9838-5133-D56E2506657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800">
                <a:solidFill>
                  <a:srgbClr val="595959"/>
                </a:solidFill>
                <a:latin typeface="Corbel"/>
                <a:ea typeface="Corbel"/>
                <a:cs typeface="Corbel"/>
              </a:defRPr>
            </a:defPPr>
          </a:lstStyle>
          <a:p xmlns:a="http://schemas.openxmlformats.org/drawingml/2006/main">
            <a:pPr marL="304800" indent="-152400">
              <a:spcAft>
                <a:spcPts val="1200"/>
              </a:spcAft>
              <a:buChar char="•"/>
              <a:defRPr sz="1800">
                <a:solidFill>
                  <a:srgbClr val="595959"/>
                </a:solidFill>
                <a:latin typeface="Corbel"/>
                <a:ea typeface="Corbel"/>
                <a:cs typeface="Corbel"/>
              </a:defRPr>
            </a:pPr>
            <a:r>
              <a:rPr sz="1800">
                <a:solidFill>
                  <a:srgbClr val="595959"/>
                </a:solidFill>
                <a:latin typeface="Corbel"/>
                <a:ea typeface="Corbel"/>
                <a:cs typeface="Corbel"/>
              </a:rPr>
              <a:t>SDG 8, Decent Work and Economic Growth: Recovering tasks from screenshots reduces manual entry and helps people keep work on track.</a:t>
            </a:r>
          </a:p>
          <a:p xmlns:a="http://schemas.openxmlformats.org/drawingml/2006/main">
            <a:pPr marL="304800" indent="-152400">
              <a:spcAft>
                <a:spcPts val="1200"/>
              </a:spcAft>
              <a:buChar char="•"/>
              <a:defRPr sz="1800">
                <a:solidFill>
                  <a:srgbClr val="595959"/>
                </a:solidFill>
                <a:latin typeface="Corbel"/>
                <a:ea typeface="Corbel"/>
                <a:cs typeface="Corbel"/>
              </a:defRPr>
            </a:pPr>
            <a:r>
              <a:rPr sz="1800">
                <a:solidFill>
                  <a:srgbClr val="595959"/>
                </a:solidFill>
                <a:latin typeface="Corbel"/>
                <a:ea typeface="Corbel"/>
                <a:cs typeface="Corbel"/>
              </a:rPr>
              <a:t>SDG 9, Industry, Innovation and Infrastructure: The project uses a connected microservice architecture across Rust, Python and C++.</a:t>
            </a:r>
          </a:p>
          <a:p xmlns:a="http://schemas.openxmlformats.org/drawingml/2006/main">
            <a:pPr marL="304800" indent="-152400">
              <a:spcAft>
                <a:spcPts val="1200"/>
              </a:spcAft>
              <a:buChar char="•"/>
              <a:defRPr sz="1800">
                <a:solidFill>
                  <a:srgbClr val="595959"/>
                </a:solidFill>
                <a:latin typeface="Corbel"/>
                <a:ea typeface="Corbel"/>
                <a:cs typeface="Corbel"/>
              </a:defRPr>
            </a:pPr>
            <a:r>
              <a:rPr sz="1800">
                <a:solidFill>
                  <a:srgbClr val="595959"/>
                </a:solidFill>
                <a:latin typeface="Corbel"/>
                <a:ea typeface="Corbel"/>
                <a:cs typeface="Corbel"/>
              </a:rPr>
              <a:t>SDG 12, Responsible Consumption and Production: Planned source image cleanup can reduce unnecessary digital storage.</a:t>
            </a:r>
          </a:p>
        </p:txBody>
      </p:sp>
    </p:spTree>
    <p:extLst>
      <p:ext uri="{BB962C8B-B14F-4D97-AF65-F5344CB8AC3E}">
        <p14:creationId xmlns:p14="http://schemas.microsoft.com/office/powerpoint/2010/main" val="399496279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75164ED-737E-A1B4-E92A-F962735A25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Technology / Line of Code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E639AED-F05C-9178-6F29-917CF0258CC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800">
                <a:solidFill>
                  <a:srgbClr val="595959"/>
                </a:solidFill>
                <a:latin typeface="Corbel"/>
                <a:ea typeface="Corbel"/>
                <a:cs typeface="Corbel"/>
              </a:defRPr>
            </a:defPPr>
          </a:lstStyle>
          <a:p xmlns:a="http://schemas.openxmlformats.org/drawingml/2006/main">
            <a:pPr marL="304800" indent="-152400">
              <a:spcAft>
                <a:spcPts val="1200"/>
              </a:spcAft>
              <a:buChar char="•"/>
              <a:defRPr sz="1800">
                <a:solidFill>
                  <a:srgbClr val="595959"/>
                </a:solidFill>
                <a:latin typeface="Corbel"/>
                <a:ea typeface="Corbel"/>
                <a:cs typeface="Corbel"/>
              </a:defRPr>
            </a:pPr>
            <a:r>
              <a:rPr sz="1800">
                <a:solidFill>
                  <a:srgbClr val="595959"/>
                </a:solidFill>
                <a:latin typeface="Corbel"/>
                <a:ea typeface="Corbel"/>
                <a:cs typeface="Corbel"/>
              </a:rPr>
              <a:t>Frontend and gateway: Rust with Axum serves the dashboard and routes API requests.</a:t>
            </a:r>
          </a:p>
          <a:p xmlns:a="http://schemas.openxmlformats.org/drawingml/2006/main">
            <a:pPr marL="304800" indent="-152400">
              <a:spcAft>
                <a:spcPts val="1200"/>
              </a:spcAft>
              <a:buChar char="•"/>
              <a:defRPr sz="1800">
                <a:solidFill>
                  <a:srgbClr val="595959"/>
                </a:solidFill>
                <a:latin typeface="Corbel"/>
                <a:ea typeface="Corbel"/>
                <a:cs typeface="Corbel"/>
              </a:defRPr>
            </a:pPr>
            <a:r>
              <a:rPr sz="1800">
                <a:solidFill>
                  <a:srgbClr val="595959"/>
                </a:solidFill>
                <a:latin typeface="Corbel"/>
                <a:ea typeface="Corbel"/>
                <a:cs typeface="Corbel"/>
              </a:rPr>
              <a:t>AI service: Python and FastAPI use watchdog folder monitoring and Gemini 2.0 Vision to read screenshots and extract action items.</a:t>
            </a:r>
          </a:p>
          <a:p xmlns:a="http://schemas.openxmlformats.org/drawingml/2006/main">
            <a:pPr marL="304800" indent="-152400">
              <a:spcAft>
                <a:spcPts val="1200"/>
              </a:spcAft>
              <a:buChar char="•"/>
              <a:defRPr sz="1800">
                <a:solidFill>
                  <a:srgbClr val="595959"/>
                </a:solidFill>
                <a:latin typeface="Corbel"/>
                <a:ea typeface="Corbel"/>
                <a:cs typeface="Corbel"/>
              </a:defRPr>
            </a:pPr>
            <a:r>
              <a:rPr sz="1800">
                <a:solidFill>
                  <a:srgbClr val="595959"/>
                </a:solidFill>
                <a:latin typeface="Corbel"/>
                <a:ea typeface="Corbel"/>
                <a:cs typeface="Corbel"/>
              </a:rPr>
              <a:t>Data service: C++ with Crow stores tasks in SQLite using WAL mode.</a:t>
            </a:r>
          </a:p>
          <a:p xmlns:a="http://schemas.openxmlformats.org/drawingml/2006/main">
            <a:pPr marL="304800" indent="-152400">
              <a:spcAft>
                <a:spcPts val="1200"/>
              </a:spcAft>
              <a:buChar char="•"/>
              <a:defRPr sz="1800">
                <a:solidFill>
                  <a:srgbClr val="595959"/>
                </a:solidFill>
                <a:latin typeface="Corbel"/>
                <a:ea typeface="Corbel"/>
                <a:cs typeface="Corbel"/>
              </a:defRPr>
            </a:pPr>
            <a:r>
              <a:rPr sz="1800">
                <a:solidFill>
                  <a:srgbClr val="595959"/>
                </a:solidFill>
                <a:latin typeface="Corbel"/>
                <a:ea typeface="Corbel"/>
                <a:cs typeface="Corbel"/>
              </a:rPr>
              <a:t>The interface uses JavaScript, custom dark-mode styling and automatic dashboard polling.</a:t>
            </a:r>
          </a:p>
        </p:txBody>
      </p:sp>
    </p:spTree>
    <p:extLst>
      <p:ext uri="{BB962C8B-B14F-4D97-AF65-F5344CB8AC3E}">
        <p14:creationId xmlns:p14="http://schemas.microsoft.com/office/powerpoint/2010/main" val="287381143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7CDC13F-7F38-B05E-2211-E4AA21C0FE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Innovation / Novelty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AD51815-6443-7A1C-C75E-65299DE643C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800">
                <a:solidFill>
                  <a:srgbClr val="595959"/>
                </a:solidFill>
                <a:latin typeface="Corbel"/>
                <a:ea typeface="Corbel"/>
                <a:cs typeface="Corbel"/>
              </a:defRPr>
            </a:defPPr>
          </a:lstStyle>
          <a:p xmlns:a="http://schemas.openxmlformats.org/drawingml/2006/main">
            <a:pPr marL="304800" indent="-152400">
              <a:spcAft>
                <a:spcPts val="1200"/>
              </a:spcAft>
              <a:buChar char="•"/>
              <a:defRPr sz="1800">
                <a:solidFill>
                  <a:srgbClr val="595959"/>
                </a:solidFill>
                <a:latin typeface="Corbel"/>
                <a:ea typeface="Corbel"/>
                <a:cs typeface="Corbel"/>
              </a:defRPr>
            </a:pPr>
            <a:r>
              <a:rPr sz="1800">
                <a:solidFill>
                  <a:srgbClr val="595959"/>
                </a:solidFill>
                <a:latin typeface="Corbel"/>
                <a:ea typeface="Corbel"/>
                <a:cs typeface="Corbel"/>
              </a:rPr>
              <a:t>Drop a screenshot into a designated folder to start task extraction.</a:t>
            </a:r>
          </a:p>
          <a:p xmlns:a="http://schemas.openxmlformats.org/drawingml/2006/main">
            <a:pPr marL="304800" indent="-152400">
              <a:spcAft>
                <a:spcPts val="1200"/>
              </a:spcAft>
              <a:buChar char="•"/>
              <a:defRPr sz="1800">
                <a:solidFill>
                  <a:srgbClr val="595959"/>
                </a:solidFill>
                <a:latin typeface="Corbel"/>
                <a:ea typeface="Corbel"/>
                <a:cs typeface="Corbel"/>
              </a:defRPr>
            </a:pPr>
            <a:r>
              <a:rPr sz="1800">
                <a:solidFill>
                  <a:srgbClr val="595959"/>
                </a:solidFill>
                <a:latin typeface="Corbel"/>
                <a:ea typeface="Corbel"/>
                <a:cs typeface="Corbel"/>
              </a:rPr>
              <a:t>Vision AI identifies action items, priorities, due dates and assignees.</a:t>
            </a:r>
          </a:p>
          <a:p xmlns:a="http://schemas.openxmlformats.org/drawingml/2006/main">
            <a:pPr marL="304800" indent="-152400">
              <a:spcAft>
                <a:spcPts val="1200"/>
              </a:spcAft>
              <a:buChar char="•"/>
              <a:defRPr sz="1800">
                <a:solidFill>
                  <a:srgbClr val="595959"/>
                </a:solidFill>
                <a:latin typeface="Corbel"/>
                <a:ea typeface="Corbel"/>
                <a:cs typeface="Corbel"/>
              </a:defRPr>
            </a:pPr>
            <a:r>
              <a:rPr sz="1800">
                <a:solidFill>
                  <a:srgbClr val="595959"/>
                </a:solidFill>
                <a:latin typeface="Corbel"/>
                <a:ea typeface="Corbel"/>
                <a:cs typeface="Corbel"/>
              </a:rPr>
              <a:t>Extracted tasks appear on a live dashboard, replacing manual transcription with an automated capture-to-task flow.</a:t>
            </a:r>
          </a:p>
        </p:txBody>
      </p:sp>
    </p:spTree>
    <p:extLst>
      <p:ext uri="{BB962C8B-B14F-4D97-AF65-F5344CB8AC3E}">
        <p14:creationId xmlns:p14="http://schemas.microsoft.com/office/powerpoint/2010/main" val="31729572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CBC2DFE-E3B7-E172-0B1F-7CA94496FE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Future Scope 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9B8FE2B-3D42-028E-38A8-9C48088EF9F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800">
                <a:solidFill>
                  <a:srgbClr val="595959"/>
                </a:solidFill>
                <a:latin typeface="Corbel"/>
                <a:ea typeface="Corbel"/>
                <a:cs typeface="Corbel"/>
              </a:defRPr>
            </a:defPPr>
          </a:lstStyle>
          <a:p xmlns:a="http://schemas.openxmlformats.org/drawingml/2006/main">
            <a:pPr marL="304800" indent="-152400">
              <a:spcAft>
                <a:spcPts val="1200"/>
              </a:spcAft>
              <a:buChar char="•"/>
              <a:defRPr sz="1800">
                <a:solidFill>
                  <a:srgbClr val="595959"/>
                </a:solidFill>
                <a:latin typeface="Corbel"/>
                <a:ea typeface="Corbel"/>
                <a:cs typeface="Corbel"/>
              </a:defRPr>
            </a:pPr>
            <a:r>
              <a:rPr sz="1800">
                <a:solidFill>
                  <a:srgbClr val="595959"/>
                </a:solidFill>
                <a:latin typeface="Corbel"/>
                <a:ea typeface="Corbel"/>
                <a:cs typeface="Corbel"/>
              </a:rPr>
              <a:t>Build native iOS and Android companion apps.</a:t>
            </a:r>
          </a:p>
          <a:p xmlns:a="http://schemas.openxmlformats.org/drawingml/2006/main">
            <a:pPr marL="304800" indent="-152400">
              <a:spcAft>
                <a:spcPts val="1200"/>
              </a:spcAft>
              <a:buChar char="•"/>
              <a:defRPr sz="1800">
                <a:solidFill>
                  <a:srgbClr val="595959"/>
                </a:solidFill>
                <a:latin typeface="Corbel"/>
                <a:ea typeface="Corbel"/>
                <a:cs typeface="Corbel"/>
              </a:defRPr>
            </a:pPr>
            <a:r>
              <a:rPr sz="1800">
                <a:solidFill>
                  <a:srgbClr val="595959"/>
                </a:solidFill>
                <a:latin typeface="Corbel"/>
                <a:ea typeface="Corbel"/>
                <a:cs typeface="Corbel"/>
              </a:rPr>
              <a:t>Connect with Slack, Microsoft Teams and Jira.</a:t>
            </a:r>
          </a:p>
          <a:p xmlns:a="http://schemas.openxmlformats.org/drawingml/2006/main">
            <a:pPr marL="304800" indent="-152400">
              <a:spcAft>
                <a:spcPts val="1200"/>
              </a:spcAft>
              <a:buChar char="•"/>
              <a:defRPr sz="1800">
                <a:solidFill>
                  <a:srgbClr val="595959"/>
                </a:solidFill>
                <a:latin typeface="Corbel"/>
                <a:ea typeface="Corbel"/>
                <a:cs typeface="Corbel"/>
              </a:defRPr>
            </a:pPr>
            <a:r>
              <a:rPr sz="1800">
                <a:solidFill>
                  <a:srgbClr val="595959"/>
                </a:solidFill>
                <a:latin typeface="Corbel"/>
                <a:ea typeface="Corbel"/>
                <a:cs typeface="Corbel"/>
              </a:rPr>
              <a:t>Sync extracted due dates with calendars.</a:t>
            </a:r>
          </a:p>
          <a:p xmlns:a="http://schemas.openxmlformats.org/drawingml/2006/main">
            <a:pPr marL="304800" indent="-152400">
              <a:spcAft>
                <a:spcPts val="1200"/>
              </a:spcAft>
              <a:buChar char="•"/>
              <a:defRPr sz="1800">
                <a:solidFill>
                  <a:srgbClr val="595959"/>
                </a:solidFill>
                <a:latin typeface="Corbel"/>
                <a:ea typeface="Corbel"/>
                <a:cs typeface="Corbel"/>
              </a:defRPr>
            </a:pPr>
            <a:r>
              <a:rPr sz="1800">
                <a:solidFill>
                  <a:srgbClr val="595959"/>
                </a:solidFill>
                <a:latin typeface="Corbel"/>
                <a:ea typeface="Corbel"/>
                <a:cs typeface="Corbel"/>
              </a:rPr>
              <a:t>Add automatic deletion of source screenshots to free device space.</a:t>
            </a:r>
          </a:p>
          <a:p xmlns:a="http://schemas.openxmlformats.org/drawingml/2006/main">
            <a:pPr marL="304800" indent="-152400">
              <a:spcAft>
                <a:spcPts val="1200"/>
              </a:spcAft>
              <a:buChar char="•"/>
              <a:defRPr sz="1800">
                <a:solidFill>
                  <a:srgbClr val="595959"/>
                </a:solidFill>
                <a:latin typeface="Corbel"/>
                <a:ea typeface="Corbel"/>
                <a:cs typeface="Corbel"/>
              </a:defRPr>
            </a:pPr>
            <a:r>
              <a:rPr sz="1800">
                <a:solidFill>
                  <a:srgbClr val="595959"/>
                </a:solidFill>
                <a:latin typeface="Corbel"/>
                <a:ea typeface="Corbel"/>
                <a:cs typeface="Corbel"/>
              </a:rPr>
              <a:t>Thank you! Stop losing tasks in your camera roll. Live demo and Q&amp;A.</a:t>
            </a:r>
          </a:p>
        </p:txBody>
      </p:sp>
    </p:spTree>
    <p:extLst>
      <p:ext uri="{BB962C8B-B14F-4D97-AF65-F5344CB8AC3E}">
        <p14:creationId xmlns:p14="http://schemas.microsoft.com/office/powerpoint/2010/main" val="1189134079"/>
      </p:ext>
    </p:extLst>
  </p:cSld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>
          <a:solidFill>
            <a:schemeClr val="phClr"/>
          </a:solidFill>
          <a:prstDash val="solid"/>
        </a:ln>
        <a:ln w="10795">
          <a:solidFill>
            <a:schemeClr val="phClr"/>
          </a:solidFill>
          <a:prstDash val="solid"/>
        </a:ln>
        <a:ln w="17145">
          <a:solidFill>
            <a:schemeClr val="phClr">
              <a:shade val="95000"/>
              <a:satMod val="150000"/>
              <a:alpha val="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20000"/>
              </a:schemeClr>
            </a:gs>
            <a:gs pos="48000">
              <a:schemeClr val="phClr">
                <a:tint val="98000"/>
                <a:shade val="90000"/>
                <a:lumMod val="103000"/>
                <a:satMod val="110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2026-10-09T09:55:22.0310000Z</dcterms:created>
  <dcterms:modified xsi:type="dcterms:W3CDTF">2026-10-09T09:55:22.0310000Z</dcterms:modified>
</coreProperties>
</file>