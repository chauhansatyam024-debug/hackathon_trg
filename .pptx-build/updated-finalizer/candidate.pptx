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e3430cd7a54e71" /><Relationship Type="http://schemas.openxmlformats.org/officeDocument/2006/relationships/extended-properties" Target="/docProps/app.xml" Id="Raf4ad9ce267247f5" /><Relationship Type="http://schemas.openxmlformats.org/officeDocument/2006/relationships/officeDocument" Target="/ppt/presentation.xml" Id="Rffdd38f2ea6140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8ac9ccdf724804"/>
  </p:sldMasterIdLst>
  <p:notesMasterIdLst>
    <p:notesMasterId xmlns:r="http://schemas.openxmlformats.org/officeDocument/2006/relationships" r:id="Rd5a63809680b4673"/>
  </p:notesMasterIdLst>
  <p:sldIdLst>
    <p:sldId xmlns:r="http://schemas.openxmlformats.org/officeDocument/2006/relationships" id="256" r:id="R49dbf6ff1ac2426d"/>
    <p:sldId xmlns:r="http://schemas.openxmlformats.org/officeDocument/2006/relationships" id="257" r:id="R0bd694e2c98d4532"/>
    <p:sldId xmlns:r="http://schemas.openxmlformats.org/officeDocument/2006/relationships" id="258" r:id="R946d93c14a8a42cb"/>
    <p:sldId xmlns:r="http://schemas.openxmlformats.org/officeDocument/2006/relationships" id="259" r:id="R664560cb08164275"/>
    <p:sldId xmlns:r="http://schemas.openxmlformats.org/officeDocument/2006/relationships" id="260" r:id="Rb7260cf2f7c74fee"/>
    <p:sldId xmlns:r="http://schemas.openxmlformats.org/officeDocument/2006/relationships" id="261" r:id="Rae9955e6a590400a"/>
    <p:sldId xmlns:r="http://schemas.openxmlformats.org/officeDocument/2006/relationships" id="262" r:id="R77f2db68fa704310"/>
    <p:sldId xmlns:r="http://schemas.openxmlformats.org/officeDocument/2006/relationships" id="263" r:id="R9d5917c167104988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0444aa04784a0d" /><Relationship Type="http://schemas.openxmlformats.org/officeDocument/2006/relationships/slideMaster" Target="/ppt/slideMasters/slideMaster1.xml" Id="Rda8ac9ccdf724804" /><Relationship Type="http://schemas.openxmlformats.org/officeDocument/2006/relationships/notesMaster" Target="/ppt/notesMasters/notesMaster1.xml" Id="Rd5a63809680b4673" /><Relationship Type="http://schemas.openxmlformats.org/officeDocument/2006/relationships/presProps" Target="/ppt/presProps.xml" Id="Rfec91354eb7b43f9" /><Relationship Type="http://schemas.openxmlformats.org/officeDocument/2006/relationships/viewProps" Target="/ppt/viewProps.xml" Id="R97df2bbcd96247aa" /><Relationship Type="http://schemas.openxmlformats.org/officeDocument/2006/relationships/tableStyles" Target="/ppt/tableStyles.xml" Id="R95ebef3e713d46b6" /><Relationship Type="http://schemas.openxmlformats.org/officeDocument/2006/relationships/slide" Target="/ppt/slides/slide1.xml" Id="R49dbf6ff1ac2426d" /><Relationship Type="http://schemas.openxmlformats.org/officeDocument/2006/relationships/slide" Target="/ppt/slides/slide2.xml" Id="R0bd694e2c98d4532" /><Relationship Type="http://schemas.openxmlformats.org/officeDocument/2006/relationships/slide" Target="/ppt/slides/slide3.xml" Id="R946d93c14a8a42cb" /><Relationship Type="http://schemas.openxmlformats.org/officeDocument/2006/relationships/slide" Target="/ppt/slides/slide4.xml" Id="R664560cb08164275" /><Relationship Type="http://schemas.openxmlformats.org/officeDocument/2006/relationships/slide" Target="/ppt/slides/slide5.xml" Id="Rb7260cf2f7c74fee" /><Relationship Type="http://schemas.openxmlformats.org/officeDocument/2006/relationships/slide" Target="/ppt/slides/slide6.xml" Id="Rae9955e6a590400a" /><Relationship Type="http://schemas.openxmlformats.org/officeDocument/2006/relationships/slide" Target="/ppt/slides/slide7.xml" Id="R77f2db68fa704310" /><Relationship Type="http://schemas.openxmlformats.org/officeDocument/2006/relationships/slide" Target="/ppt/slides/slide8.xml" Id="R9d5917c1671049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c66c8916904e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>
          <a:solidFill>
            <a:schemeClr val="phClr"/>
          </a:solidFill>
          <a:prstDash val="solid"/>
        </a:ln>
        <a:ln w="10795">
          <a:solidFill>
            <a:schemeClr val="phClr"/>
          </a:solidFill>
          <a:prstDash val="solid"/>
        </a:ln>
        <a:ln w="17145">
          <a:solidFill>
            <a:schemeClr val="phClr">
              <a:shade val="95000"/>
              <a:satMod val="150000"/>
              <a:alpha val="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20000"/>
              </a:schemeClr>
            </a:gs>
            <a:gs pos="48000">
              <a:schemeClr val="phClr">
                <a:tint val="98000"/>
                <a:shade val="90000"/>
                <a:lumMod val="103000"/>
                <a:satMod val="110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3233887c7244e2" /><Relationship Type="http://schemas.openxmlformats.org/officeDocument/2006/relationships/notesMaster" Target="/ppt/notesMasters/notesMaster1.xml" Id="Rc250a499851342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2f3b29ae0041bf" /><Relationship Type="http://schemas.openxmlformats.org/officeDocument/2006/relationships/notesMaster" Target="/ppt/notesMasters/notesMaster1.xml" Id="R91b8bcd5b7fb44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e902d513e440f5" /><Relationship Type="http://schemas.openxmlformats.org/officeDocument/2006/relationships/notesMaster" Target="/ppt/notesMasters/notesMaster1.xml" Id="R4aed8e98de8040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8d85dbf1514a3c" /><Relationship Type="http://schemas.openxmlformats.org/officeDocument/2006/relationships/notesMaster" Target="/ppt/notesMasters/notesMaster1.xml" Id="Rf413a1648f9644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518cd5c17a4d5b" /><Relationship Type="http://schemas.openxmlformats.org/officeDocument/2006/relationships/notesMaster" Target="/ppt/notesMasters/notesMaster1.xml" Id="Rc78ddd1c2fe64e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1cebf0cd304bff" /><Relationship Type="http://schemas.openxmlformats.org/officeDocument/2006/relationships/notesMaster" Target="/ppt/notesMasters/notesMaster1.xml" Id="R3afc70fa320149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88dddffb7e485c" /><Relationship Type="http://schemas.openxmlformats.org/officeDocument/2006/relationships/notesMaster" Target="/ppt/notesMasters/notesMaster1.xml" Id="Rdb374b41877343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ae1dbb6fe34d62" /><Relationship Type="http://schemas.openxmlformats.org/officeDocument/2006/relationships/notesMaster" Target="/ppt/notesMasters/notesMaster1.xml" Id="R66decd4f94a446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0e28abb01b41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fc1fd84f744f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8231defb2e41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5c43ae769d40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4074b3d67043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ba6cbe2835433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a65e2c35b34d6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9f386e8b45432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535c15c81040a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dfc50095c644b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4c7c4d9bed4d3d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948D8B9-CEB3-4BFD-B91B-9928ECB6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1999"/>
            <a:ext cx="9141619" cy="53340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B1861A8-2450-45AE-8AD9-B3A79EE2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0263" y="761999"/>
            <a:ext cx="2925318" cy="5334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BDC9C4-A214-42C5-B1FF-26243C3422A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69848" y="1298448"/>
            <a:ext cx="7315200" cy="3255264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5900" spc="-100" baseline="0">
                <a:solidFill>
                  <a:srgbClr val="FFFFFF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E1E73F6-5D12-400F-8D17-4C97C02495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00015" y="4670246"/>
            <a:ext cx="7315200" cy="91440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5491C2-BFDF-4237-9FA1-FE9545F26A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FC7B13A-D604-430F-BDAC-28CA092972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5934D3-2EB4-4742-BAC9-7411C63E70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06F7DE-439D-4B87-90BF-34F2684888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4104125-0808-41E2-9B17-852BC1AAF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34BCB95-2F5C-414F-A0B5-1988DA9A24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D09917E-DD67-4768-BC8D-82CE69DFCC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DBA2BC3-8274-4D00-8949-D2FABCDDB7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6FDDB8-D931-4E38-BF24-1356D36235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67912" y="1298448"/>
            <a:ext cx="7315200" cy="3255264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1A9F256-7B17-49EC-A7E5-C77E2755B1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6200" y="4672584"/>
            <a:ext cx="7315200" cy="91440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E44281D-437A-4930-B6F3-5D5032D4E2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2EC4D4-2938-4114-8A11-58F9EB99E3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EF0693-17F6-4B79-A13D-DBD1507B30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DA0FDE-0D0C-49C9-8D4F-B20DDEB2A1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DA344B-1158-46D2-8BC7-1BBCC6A528D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67912" y="868680"/>
            <a:ext cx="3474720" cy="512064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/>
            </a:lvl8pPr>
            <a:lvl9pPr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4A1A6D3-BF38-49F9-91BE-5DE33DF8284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7818120" y="868680"/>
            <a:ext cx="3474720" cy="512064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/>
            </a:lvl8pPr>
            <a:lvl9pPr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8" name="Date Placeholder 7">
            <a:extLst xmlns:a="http://schemas.openxmlformats.org/drawingml/2006/main">
              <a:ext uri="{FF2B5EF4-FFF2-40B4-BE49-F238E27FC236}">
                <a16:creationId xmlns:a16="http://schemas.microsoft.com/office/drawing/2014/main" id="{985B0291-1AE2-4148-8818-AB30268E14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6D761CBF-4DCD-42C4-B1CC-C82D056DE1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1F974741-5E97-4098-BFCF-1CFE724FD1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D2748C0D-5594-464E-954A-D78E4527CF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6AB81C-FC9F-434D-A3AC-DE8470F348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67912" y="1023586"/>
            <a:ext cx="3474720" cy="80772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F39E4B2-1226-47F0-9987-7A247E8E730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867912" y="1930936"/>
            <a:ext cx="3474720" cy="40233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/>
            </a:lvl8pPr>
            <a:lvl9pPr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BAA4BBD-FFB2-44EF-95C7-90AE3D1C175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818463" y="1023586"/>
            <a:ext cx="3474720" cy="81317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2D1CB8C-EC7B-400E-B264-0BF0629EFD1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7818463" y="1930936"/>
            <a:ext cx="3474720" cy="40233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/>
            </a:lvl8pPr>
            <a:lvl9pPr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8E7FC37-6372-4A37-825E-7CFA34A04F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69DE838A-5545-4B4A-B711-F3F095909B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606DFFBD-80DE-4152-A1AE-0179DC162F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CDD3C915-414C-409B-A0FF-85CB10841E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3C7A1B5-C3E1-4287-9893-1A5C5F5E2A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FC6F8DDE-3B48-462F-9796-1F7B841754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4439DAEC-6863-409F-B641-D332A56789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76C78D8-B371-47F7-8265-89B9B8B3DC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F0F1CFA-50FF-4FE1-B425-63A50EF4CC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513522F-7454-4BF2-9C4D-BEA0E4FC98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27400D-E073-44F9-8EB0-67D8C235D5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6032" y="1143000"/>
            <a:ext cx="2834640" cy="237744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3200" b="0" baseline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A7E397-A480-48F7-A589-88FA73DBE2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67912" y="868680"/>
            <a:ext cx="7315200" cy="512064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/>
            </a:lvl8pPr>
            <a:lvl9pPr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EA93A3B-5BDE-4941-9D9D-818BA57863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56032" y="3494176"/>
            <a:ext cx="2834640" cy="232199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" name="Date Placeholder 7">
            <a:extLst xmlns:a="http://schemas.openxmlformats.org/drawingml/2006/main">
              <a:ext uri="{FF2B5EF4-FFF2-40B4-BE49-F238E27FC236}">
                <a16:creationId xmlns:a16="http://schemas.microsoft.com/office/drawing/2014/main" id="{78A40372-81B4-44E1-8617-E94E181AF0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491A9B17-E950-4F34-9FF1-FB07FA2667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868193C1-299F-4148-BA3E-F1B618E8D0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4C8EFF-A38F-4680-A470-7F8F62BC77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6032" y="1143000"/>
            <a:ext cx="2834640" cy="237744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32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B7AF57F-629E-4EE0-80D7-647249DDEEE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570644" y="767419"/>
            <a:ext cx="8115230" cy="533095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75000"/>
            </a:schemeClr>
          </a:solidFill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135958-04D8-47EA-AA8F-4A58FBF794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56032" y="3493008"/>
            <a:ext cx="2834640" cy="2322576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" name="Date Placeholder 7">
            <a:extLst xmlns:a="http://schemas.openxmlformats.org/drawingml/2006/main">
              <a:ext uri="{FF2B5EF4-FFF2-40B4-BE49-F238E27FC236}">
                <a16:creationId xmlns:a16="http://schemas.microsoft.com/office/drawing/2014/main" id="{24993D6B-F833-4C36-8B71-0304324E6A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D5ADC0BE-A3D0-4DFF-B59D-0D74629B2B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499101" y="6356350"/>
            <a:ext cx="591151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132A91ED-C2AF-4E63-A098-67011F8330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961510-7853-4C84-A856-7934FA156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C92425-D816-4556-8BDC-42E1D22F6F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D14D4C3-D49C-4012-B5C9-965D6F8382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6EA89E8-162F-4BEE-A63C-C5C9A9FD2D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D1929CE-57D4-4A4F-B600-B711CD2957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A3785CD-EE35-4526-AEB7-B792F76D89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990600"/>
            <a:ext cx="2819400" cy="49530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98A9CC5-0861-4894-859A-D0EF26783D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67912" y="868680"/>
            <a:ext cx="7315200" cy="5120640"/>
          </a:xfrm>
        </p:spPr>
        <p:txBody>
          <a:bodyPr xmlns:a="http://schemas.openxmlformats.org/drawingml/2006/main" vert="eaVert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B89275C-2739-4CB5-A3F7-A33FBD9B22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2C0D508-8C24-4F18-A049-2531348AB3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7EB9EDF-278A-4C9C-A9EC-9C6E30CA52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dc8c8a723d46e4" /><Relationship Type="http://schemas.openxmlformats.org/officeDocument/2006/relationships/slideLayout" Target="/ppt/slideLayouts/slideLayout1.xml" Id="Rf58cda58feab4545" /><Relationship Type="http://schemas.openxmlformats.org/officeDocument/2006/relationships/slideLayout" Target="/ppt/slideLayouts/slideLayout2.xml" Id="Rdbdbe17cbcf043c8" /><Relationship Type="http://schemas.openxmlformats.org/officeDocument/2006/relationships/slideLayout" Target="/ppt/slideLayouts/slideLayout3.xml" Id="R29022c0d5c2f495c" /><Relationship Type="http://schemas.openxmlformats.org/officeDocument/2006/relationships/slideLayout" Target="/ppt/slideLayouts/slideLayout4.xml" Id="Rdbc6760b66084188" /><Relationship Type="http://schemas.openxmlformats.org/officeDocument/2006/relationships/slideLayout" Target="/ppt/slideLayouts/slideLayout5.xml" Id="R9750aae1464945b4" /><Relationship Type="http://schemas.openxmlformats.org/officeDocument/2006/relationships/slideLayout" Target="/ppt/slideLayouts/slideLayout6.xml" Id="R4d6836f0b5794474" /><Relationship Type="http://schemas.openxmlformats.org/officeDocument/2006/relationships/slideLayout" Target="/ppt/slideLayouts/slideLayout7.xml" Id="Re5f5872e9f084339" /><Relationship Type="http://schemas.openxmlformats.org/officeDocument/2006/relationships/slideLayout" Target="/ppt/slideLayouts/slideLayout8.xml" Id="R707683b65ddc48fd" /><Relationship Type="http://schemas.openxmlformats.org/officeDocument/2006/relationships/slideLayout" Target="/ppt/slideLayouts/slideLayout9.xml" Id="Rad306ef630d64fda" /><Relationship Type="http://schemas.openxmlformats.org/officeDocument/2006/relationships/slideLayout" Target="/ppt/slideLayouts/slideLayout10.xml" Id="Ra1eec6e35e9c40db" /><Relationship Type="http://schemas.openxmlformats.org/officeDocument/2006/relationships/slideLayout" Target="/ppt/slideLayouts/slideLayout11.xml" Id="R91fc093e057443b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08FFB93-B44F-4A87-B2B8-6D271168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758952"/>
            <a:ext cx="3443590" cy="533095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5382597-5AA7-4A3C-930A-6D6308D3F3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919" y="1123837"/>
            <a:ext cx="2947482" cy="46011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EB39491A-FC17-4EF9-BE92-53C76CE4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5864" y="758952"/>
            <a:ext cx="384048" cy="5330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E1BAA7-ED5C-440F-AE48-C009D0DC48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69268" y="864108"/>
            <a:ext cx="7315200" cy="5120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09B482A-125D-433F-8E1A-FD9286B2979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262465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D924C61-8377-4FD8-9D0E-1D7FE742D90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869268" y="6356350"/>
            <a:ext cx="5911517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331619-BABC-4FC9-84D3-DE32D5DDFA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634135" y="6356350"/>
            <a:ext cx="1530927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8cda58feab4545"/>
    <p:sldLayoutId xmlns:r="http://schemas.openxmlformats.org/officeDocument/2006/relationships" id="2147483650" r:id="Rdbdbe17cbcf043c8"/>
    <p:sldLayoutId xmlns:r="http://schemas.openxmlformats.org/officeDocument/2006/relationships" id="2147483651" r:id="R29022c0d5c2f495c"/>
    <p:sldLayoutId xmlns:r="http://schemas.openxmlformats.org/officeDocument/2006/relationships" id="2147483652" r:id="Rdbc6760b66084188"/>
    <p:sldLayoutId xmlns:r="http://schemas.openxmlformats.org/officeDocument/2006/relationships" id="2147483653" r:id="R9750aae1464945b4"/>
    <p:sldLayoutId xmlns:r="http://schemas.openxmlformats.org/officeDocument/2006/relationships" id="2147483654" r:id="R4d6836f0b5794474"/>
    <p:sldLayoutId xmlns:r="http://schemas.openxmlformats.org/officeDocument/2006/relationships" id="2147483655" r:id="Re5f5872e9f084339"/>
    <p:sldLayoutId xmlns:r="http://schemas.openxmlformats.org/officeDocument/2006/relationships" id="2147483656" r:id="R707683b65ddc48fd"/>
    <p:sldLayoutId xmlns:r="http://schemas.openxmlformats.org/officeDocument/2006/relationships" id="2147483657" r:id="Rad306ef630d64fda"/>
    <p:sldLayoutId xmlns:r="http://schemas.openxmlformats.org/officeDocument/2006/relationships" id="2147483658" r:id="Ra1eec6e35e9c40db"/>
    <p:sldLayoutId xmlns:r="http://schemas.openxmlformats.org/officeDocument/2006/relationships" id="2147483659" r:id="R91fc093e057443b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82880" indent="-182880" algn="l" defTabSz="914400">
        <a:lnSpc>
          <a:spcPct val="90000"/>
        </a:lnSpc>
        <a:spcBef>
          <a:spcPts val="1200"/>
        </a:spcBef>
        <a:buClr>
          <a:schemeClr val="accent1"/>
        </a:buClr>
        <a:buFont typeface="Wingdings 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18288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18288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18288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18288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>
          <a:solidFill>
            <a:schemeClr val="phClr"/>
          </a:solidFill>
          <a:prstDash val="solid"/>
        </a:ln>
        <a:ln w="10795">
          <a:solidFill>
            <a:schemeClr val="phClr"/>
          </a:solidFill>
          <a:prstDash val="solid"/>
        </a:ln>
        <a:ln w="17145">
          <a:solidFill>
            <a:schemeClr val="phClr">
              <a:shade val="95000"/>
              <a:satMod val="150000"/>
              <a:alpha val="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20000"/>
              </a:schemeClr>
            </a:gs>
            <a:gs pos="48000">
              <a:schemeClr val="phClr">
                <a:tint val="98000"/>
                <a:shade val="90000"/>
                <a:lumMod val="103000"/>
                <a:satMod val="110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78e718b2e4cb7" /><Relationship Type="http://schemas.openxmlformats.org/officeDocument/2006/relationships/notesSlide" Target="/ppt/notesSlides/notesSlide1.xml" Id="R77db3725ee9d4d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0c2cbc969740e2" /><Relationship Type="http://schemas.openxmlformats.org/officeDocument/2006/relationships/notesSlide" Target="/ppt/notesSlides/notesSlide2.xml" Id="R7ee88aea555d4b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388b7f60de46c5" /><Relationship Type="http://schemas.openxmlformats.org/officeDocument/2006/relationships/notesSlide" Target="/ppt/notesSlides/notesSlide3.xml" Id="Rd60f73bb6f0342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d34fa34b9e4e60" /><Relationship Type="http://schemas.openxmlformats.org/officeDocument/2006/relationships/notesSlide" Target="/ppt/notesSlides/notesSlide4.xml" Id="Rc07bc610fc624f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5db98fab964162" /><Relationship Type="http://schemas.openxmlformats.org/officeDocument/2006/relationships/notesSlide" Target="/ppt/notesSlides/notesSlide5.xml" Id="R931391b62f254c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22a4b89b5f42e8" /><Relationship Type="http://schemas.openxmlformats.org/officeDocument/2006/relationships/notesSlide" Target="/ppt/notesSlides/notesSlide6.xml" Id="Ra4f653d871c944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6a5a6d1e00422e" /><Relationship Type="http://schemas.openxmlformats.org/officeDocument/2006/relationships/notesSlide" Target="/ppt/notesSlides/notesSlide7.xml" Id="Ra115c255c4ef46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0ab52894e7428e" /><Relationship Type="http://schemas.openxmlformats.org/officeDocument/2006/relationships/notesSlide" Target="/ppt/notesSlides/notesSlide8.xml" Id="R68228b48277f442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880367-3A28-CADD-FFC3-88C314682E8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4350" b="1">
                <a:solidFill>
                  <a:srgbClr val="FFFFFF"/>
                </a:solidFill>
                <a:latin typeface="Corbel"/>
                <a:ea typeface="Corbel"/>
                <a:cs typeface="Corbel"/>
              </a:rPr>
              <a:t>Screenshot Graveyard Solver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A7B1192-6293-AB94-D3B8-D3C5A9CC34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D9F1F6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>
              <a:defRPr sz="1425">
                <a:solidFill>
                  <a:srgbClr val="D9F1F6"/>
                </a:solidFill>
                <a:latin typeface="Corbel"/>
                <a:ea typeface="Corbel"/>
                <a:cs typeface="Corbel"/>
              </a:defRPr>
            </a:pPr>
            <a:r>
              <a:rPr sz="1425">
                <a:solidFill>
                  <a:srgbClr val="D9F1F6"/>
                </a:solidFill>
                <a:latin typeface="Corbel"/>
                <a:ea typeface="Corbel"/>
                <a:cs typeface="Corbel"/>
              </a:rPr>
              <a:t>Turning Digital Clutter into Actionable Productivity</a:t>
            </a:r>
          </a:p>
          <a:p xmlns:a="http://schemas.openxmlformats.org/drawingml/2006/main">
            <a:pPr>
              <a:defRPr sz="1425">
                <a:solidFill>
                  <a:srgbClr val="D9F1F6"/>
                </a:solidFill>
                <a:latin typeface="Corbel"/>
                <a:ea typeface="Corbel"/>
                <a:cs typeface="Corbel"/>
              </a:defRPr>
            </a:pPr>
            <a:r>
              <a:rPr sz="1425">
                <a:solidFill>
                  <a:srgbClr val="D9F1F6"/>
                </a:solidFill>
                <a:latin typeface="Corbel"/>
                <a:ea typeface="Corbel"/>
                <a:cs typeface="Corbel"/>
              </a:rPr>
              <a:t>An AI-Powered Cross-Platform Task Extraction Ecosystem</a:t>
            </a:r>
            <a:endParaRPr/>
          </a:p>
          <a:p xmlns:a="http://schemas.openxmlformats.org/drawingml/2006/main">
            <a:pPr>
              <a:defRPr sz="1425">
                <a:solidFill>
                  <a:srgbClr val="D9F1F6"/>
                </a:solidFill>
                <a:latin typeface="Corbel"/>
                <a:ea typeface="Corbel"/>
                <a:cs typeface="Corbel"/>
              </a:defRPr>
            </a:pPr>
            <a:r>
              <a:rPr sz="1425">
                <a:solidFill>
                  <a:srgbClr val="D9F1F6"/>
                </a:solidFill>
                <a:latin typeface="Corbel"/>
                <a:ea typeface="Corbel"/>
                <a:cs typeface="Corbel"/>
              </a:rPr>
              <a:t>Team TRG · Table CB09 · COER University / College of Smart Computing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65435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D4189E-C268-0398-24FC-83BF90378F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Problem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19C9FA9-F72D-1D32-939A-BBA802A7D9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People screenshot important tasks, bills, meetings and ideas to remember them.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Those screenshots get buried in phone galleries and build up into a screenshot graveyard.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The result is forgotten deadlines, lost information and lower personal productivity.</a:t>
            </a:r>
          </a:p>
        </p:txBody>
      </p:sp>
    </p:spTree>
    <p:extLst>
      <p:ext uri="{BB962C8B-B14F-4D97-AF65-F5344CB8AC3E}">
        <p14:creationId xmlns:p14="http://schemas.microsoft.com/office/powerpoint/2010/main" val="39900213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2FD88B-679D-4FC8-6C9D-6586879655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Our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46D84A7-AA77-9838-5133-D56E250665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A seamless ecosystem watches screenshot folders automatically.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AI processes images and extracts actionable tasks as they arrive.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Tasks are organized in a secure, accessible dashboard across mobile, web and desktop.</a:t>
            </a:r>
          </a:p>
        </p:txBody>
      </p:sp>
    </p:spTree>
    <p:extLst>
      <p:ext uri="{BB962C8B-B14F-4D97-AF65-F5344CB8AC3E}">
        <p14:creationId xmlns:p14="http://schemas.microsoft.com/office/powerpoint/2010/main" val="39949627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5164ED-737E-A1B4-E92A-F962735A25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Key Features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639AED-F05C-9178-6F29-917CF0258CC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65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65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AI-powered OCR uses Gemini 2.0 Vision to identify tasks, priorities and deadlines.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65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65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Cross-platform sync connects the PC desktop app, web dashboard and Android app.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65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65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Passwordless email OTP authentication avoids hardcoded passwords.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65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65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A side-by-side review pane lets users verify and edit extracted details beside the source image.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65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65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Automatic folder monitoring processes useful screenshots and ignores irrelevant ones.</a:t>
            </a:r>
          </a:p>
        </p:txBody>
      </p:sp>
    </p:spTree>
    <p:extLst>
      <p:ext uri="{BB962C8B-B14F-4D97-AF65-F5344CB8AC3E}">
        <p14:creationId xmlns:p14="http://schemas.microsoft.com/office/powerpoint/2010/main" val="2873811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CDC13F-7F38-B05E-2211-E4AA21C0FE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Technology Stack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D51815-6443-7A1C-C75E-65299DE643C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13">
                <a:solidFill>
                  <a:srgbClr val="595959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613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613">
                <a:solidFill>
                  <a:srgbClr val="595959"/>
                </a:solidFill>
                <a:latin typeface="Corbel"/>
                <a:ea typeface="Corbel"/>
                <a:cs typeface="Corbel"/>
              </a:rPr>
              <a:t>Rust and Axum power the API gateway, routing and JWT authentication.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613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613">
                <a:solidFill>
                  <a:srgbClr val="595959"/>
                </a:solidFill>
                <a:latin typeface="Corbel"/>
                <a:ea typeface="Corbel"/>
                <a:cs typeface="Corbel"/>
              </a:rPr>
              <a:t>C++ with Crow and SQLite handles task storage and retrieval.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613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613">
                <a:solidFill>
                  <a:srgbClr val="595959"/>
                </a:solidFill>
                <a:latin typeface="Corbel"/>
                <a:ea typeface="Corbel"/>
                <a:cs typeface="Corbel"/>
              </a:rPr>
              <a:t>Python and FastAPI connect the AI service to Google Gemini Vision for OCR.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613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613">
                <a:solidFill>
                  <a:srgbClr val="595959"/>
                </a:solidFill>
                <a:latin typeface="Corbel"/>
                <a:ea typeface="Corbel"/>
                <a:cs typeface="Corbel"/>
              </a:rPr>
              <a:t>Clients include an Electron PC app, a vanilla HTML/CSS/JavaScript web app and Android.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613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613">
                <a:solidFill>
                  <a:srgbClr val="595959"/>
                </a:solidFill>
                <a:latin typeface="Corbel"/>
                <a:ea typeface="Corbel"/>
                <a:cs typeface="Corbel"/>
              </a:rPr>
              <a:t>Docker containers run on an AWS EC2 cloud instance.</a:t>
            </a:r>
          </a:p>
        </p:txBody>
      </p:sp>
    </p:spTree>
    <p:extLst>
      <p:ext uri="{BB962C8B-B14F-4D97-AF65-F5344CB8AC3E}">
        <p14:creationId xmlns:p14="http://schemas.microsoft.com/office/powerpoint/2010/main" val="3172957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CBC2DFE-E3B7-E172-0B1F-7CA94496FE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SDG Alignment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B8FE2B-3D42-028E-38A8-9C48088EF9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595959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575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575">
                <a:solidFill>
                  <a:srgbClr val="595959"/>
                </a:solidFill>
                <a:latin typeface="Corbel"/>
                <a:ea typeface="Corbel"/>
                <a:cs typeface="Corbel"/>
              </a:rPr>
              <a:t>SDG 8, Decent Work and Economic Growth: Automating task extraction can improve individual and team productivity, reduce manual entry and leave more time for higher-value work.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575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575">
                <a:solidFill>
                  <a:srgbClr val="595959"/>
                </a:solidFill>
                <a:latin typeface="Corbel"/>
                <a:ea typeface="Corbel"/>
                <a:cs typeface="Corbel"/>
              </a:rPr>
              <a:t>SDG 12, Responsible Consumption and Production: Organizing and clearing unneeded screenshots can reduce stored digital clutter and its associated storage demand.</a:t>
            </a:r>
          </a:p>
        </p:txBody>
      </p:sp>
    </p:spTree>
    <p:extLst>
      <p:ext uri="{BB962C8B-B14F-4D97-AF65-F5344CB8AC3E}">
        <p14:creationId xmlns:p14="http://schemas.microsoft.com/office/powerpoint/2010/main" val="11891340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06F7DE-439D-4B87-90BF-34F2684888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 Potential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4104125-0808-41E2-9B17-852BC1AAF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725">
                <a:solidFill>
                  <a:srgbClr val="595959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725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725">
                <a:solidFill>
                  <a:srgbClr val="595959"/>
                </a:solidFill>
                <a:latin typeface="Corbel"/>
                <a:ea typeface="Corbel"/>
                <a:cs typeface="Corbel"/>
              </a:rPr>
              <a:t>Integrate with Google Calendar, Notion and Slack.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725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725">
                <a:solidFill>
                  <a:srgbClr val="595959"/>
                </a:solidFill>
                <a:latin typeface="Corbel"/>
                <a:ea typeface="Corbel"/>
                <a:cs typeface="Corbel"/>
              </a:rPr>
              <a:t>Automatically sort screenshots into personal, work and finance categories.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725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725">
                <a:solidFill>
                  <a:srgbClr val="595959"/>
                </a:solidFill>
                <a:latin typeface="Corbel"/>
                <a:ea typeface="Corbel"/>
                <a:cs typeface="Corbel"/>
              </a:rPr>
              <a:t>Expand to B2B teams that share visual information across offices.</a:t>
            </a:r>
          </a:p>
        </p:txBody>
      </p:sp>
    </p:spTree>
    <p:extLst>
      <p:ext uri="{BB962C8B-B14F-4D97-AF65-F5344CB8AC3E}">
        <p14:creationId xmlns:p14="http://schemas.microsoft.com/office/powerpoint/2010/main" val="1281431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06F7DE-439D-4B87-90BF-34F2684888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You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4104125-0808-41E2-9B17-852BC1AAF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95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95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95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Ready to empty your graveyard?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95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95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Try the live AWS web dashboard or download the PC or Android app today.</a:t>
            </a:r>
          </a:p>
        </p:txBody>
      </p:sp>
    </p:spTree>
    <p:extLst>
      <p:ext uri="{BB962C8B-B14F-4D97-AF65-F5344CB8AC3E}">
        <p14:creationId xmlns:p14="http://schemas.microsoft.com/office/powerpoint/2010/main" val="1966440714"/>
      </p:ext>
    </p:extLst>
  </p:cSld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>
          <a:solidFill>
            <a:schemeClr val="phClr"/>
          </a:solidFill>
          <a:prstDash val="solid"/>
        </a:ln>
        <a:ln w="10795">
          <a:solidFill>
            <a:schemeClr val="phClr"/>
          </a:solidFill>
          <a:prstDash val="solid"/>
        </a:ln>
        <a:ln w="17145">
          <a:solidFill>
            <a:schemeClr val="phClr">
              <a:shade val="95000"/>
              <a:satMod val="150000"/>
              <a:alpha val="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20000"/>
              </a:schemeClr>
            </a:gs>
            <a:gs pos="48000">
              <a:schemeClr val="phClr">
                <a:tint val="98000"/>
                <a:shade val="90000"/>
                <a:lumMod val="103000"/>
                <a:satMod val="110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2026-10-09T16:09:26.8370000Z</dcterms:created>
  <dcterms:modified xsi:type="dcterms:W3CDTF">2026-10-09T16:09:26.8370000Z</dcterms:modified>
</coreProperties>
</file>